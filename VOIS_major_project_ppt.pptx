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5"/>
  </p:notesMasterIdLst>
  <p:handoutMasterIdLst>
    <p:handoutMasterId r:id="rId26"/>
  </p:handoutMasterIdLst>
  <p:sldIdLst>
    <p:sldId id="338" r:id="rId5"/>
    <p:sldId id="327" r:id="rId6"/>
    <p:sldId id="315" r:id="rId7"/>
    <p:sldId id="347" r:id="rId8"/>
    <p:sldId id="329" r:id="rId9"/>
    <p:sldId id="302" r:id="rId10"/>
    <p:sldId id="339" r:id="rId11"/>
    <p:sldId id="350" r:id="rId12"/>
    <p:sldId id="352" r:id="rId13"/>
    <p:sldId id="351" r:id="rId14"/>
    <p:sldId id="348" r:id="rId15"/>
    <p:sldId id="349" r:id="rId16"/>
    <p:sldId id="340" r:id="rId17"/>
    <p:sldId id="344" r:id="rId18"/>
    <p:sldId id="345" r:id="rId19"/>
    <p:sldId id="346" r:id="rId20"/>
    <p:sldId id="341" r:id="rId21"/>
    <p:sldId id="342" r:id="rId22"/>
    <p:sldId id="343" r:id="rId23"/>
    <p:sldId id="30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5C5569-1414-41C2-BD9F-BF9C71D59E3D}" v="134" dt="2026-09-06T14:04:18.11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hyperlink" Target="mailto:Email-gopal1892003@gmail.com" TargetMode="External"/><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945224" y="950703"/>
            <a:ext cx="6299911" cy="1351808"/>
          </a:xfrm>
        </p:spPr>
        <p:txBody>
          <a:bodyPr>
            <a:noAutofit/>
          </a:bodyPr>
          <a:lstStyle/>
          <a:p>
            <a:pPr algn="ctr"/>
            <a:r>
              <a:rPr lang="en-GB" sz="3600" b="1" u="sng" dirty="0">
                <a:solidFill>
                  <a:srgbClr val="C00000"/>
                </a:solidFill>
              </a:rPr>
              <a:t>Project Title -</a:t>
            </a:r>
            <a:r>
              <a:rPr lang="en-IN" sz="3600" b="1" u="sng" dirty="0">
                <a:solidFill>
                  <a:srgbClr val="C00000"/>
                </a:solidFill>
              </a:rPr>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5" name="TextBox 4">
            <a:extLst>
              <a:ext uri="{FF2B5EF4-FFF2-40B4-BE49-F238E27FC236}">
                <a16:creationId xmlns:a16="http://schemas.microsoft.com/office/drawing/2014/main" id="{6E714E48-4A9C-F0EC-0F2C-DFF204424189}"/>
              </a:ext>
            </a:extLst>
          </p:cNvPr>
          <p:cNvSpPr txBox="1"/>
          <p:nvPr/>
        </p:nvSpPr>
        <p:spPr>
          <a:xfrm>
            <a:off x="1987420" y="2921027"/>
            <a:ext cx="9526556" cy="1964512"/>
          </a:xfrm>
          <a:prstGeom prst="rect">
            <a:avLst/>
          </a:prstGeom>
          <a:noFill/>
        </p:spPr>
        <p:txBody>
          <a:bodyPr wrap="square" rtlCol="0">
            <a:spAutoFit/>
          </a:bodyPr>
          <a:lstStyle/>
          <a:p>
            <a:pPr algn="just">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Name: </a:t>
            </a:r>
            <a:r>
              <a:rPr lang="en-US" sz="2800" b="1" dirty="0">
                <a:latin typeface="Calibri" panose="020F0502020204030204" pitchFamily="34" charset="0"/>
                <a:ea typeface="Calibri" panose="020F0502020204030204" pitchFamily="34" charset="0"/>
                <a:cs typeface="Calibri" panose="020F0502020204030204" pitchFamily="34" charset="0"/>
              </a:rPr>
              <a:t>Gopal Krishna</a:t>
            </a:r>
          </a:p>
          <a:p>
            <a:pPr algn="just">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College: </a:t>
            </a:r>
            <a:r>
              <a:rPr lang="en-US" sz="2800" b="1" dirty="0">
                <a:latin typeface="Calibri" panose="020F0502020204030204" pitchFamily="34" charset="0"/>
                <a:ea typeface="Calibri" panose="020F0502020204030204" pitchFamily="34" charset="0"/>
                <a:cs typeface="Calibri" panose="020F0502020204030204" pitchFamily="34" charset="0"/>
              </a:rPr>
              <a:t>Bengal College Of Engineering And Technology</a:t>
            </a:r>
          </a:p>
          <a:p>
            <a:pPr algn="just">
              <a:lnSpc>
                <a:spcPct val="150000"/>
              </a:lnSpc>
            </a:pPr>
            <a:r>
              <a:rPr lang="en-US" sz="2800" dirty="0">
                <a:latin typeface="Calibri" panose="020F0502020204030204" pitchFamily="34" charset="0"/>
                <a:ea typeface="Calibri" panose="020F0502020204030204" pitchFamily="34" charset="0"/>
                <a:cs typeface="Calibri" panose="020F0502020204030204" pitchFamily="34" charset="0"/>
              </a:rPr>
              <a:t>AICTE STU id: </a:t>
            </a:r>
            <a:r>
              <a:rPr lang="en-IN" sz="2800" b="1" dirty="0">
                <a:latin typeface="Calibri" panose="020F0502020204030204" pitchFamily="34" charset="0"/>
                <a:ea typeface="Calibri" panose="020F0502020204030204" pitchFamily="34" charset="0"/>
                <a:cs typeface="Calibri" panose="020F0502020204030204" pitchFamily="34" charset="0"/>
              </a:rPr>
              <a:t>STU69ef438b5c6c21777288075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30215" y="1996855"/>
            <a:ext cx="7444377" cy="3607987"/>
          </a:xfrm>
        </p:spPr>
        <p:txBody>
          <a:bodyPr vert="horz" lIns="91440" tIns="45720" rIns="91440" bIns="45720" rtlCol="0" anchor="t">
            <a:noAutofit/>
          </a:bodyPr>
          <a:lstStyle/>
          <a:p>
            <a:pPr algn="ctr">
              <a:lnSpc>
                <a:spcPct val="100000"/>
              </a:lnSpc>
            </a:pPr>
            <a:r>
              <a:rPr lang="en-IN" dirty="0">
                <a:solidFill>
                  <a:schemeClr val="tx1">
                    <a:lumMod val="95000"/>
                    <a:lumOff val="5000"/>
                  </a:schemeClr>
                </a:solidFill>
              </a:rPr>
              <a:t>Agricultural activities are influenced by seasonal variations in environmental conditions, farming practices, resource availability, and market conditions, causing agricultural performance to differ from one season to another. However, raw agricultural data does not clearly explain how agricultural performance changes across seasons or what patterns can be observed in different seasonal conditions. The problem is to analyse the given agricultural dataset and investigate seasonal differences in agricultural performance by identifying meaningful patterns, trends, relationships, and variations within the available data to support evidence-based agricultural planning and decision-making.</a:t>
            </a:r>
            <a:r>
              <a:rPr lang="en-IN" sz="3200" dirty="0">
                <a:solidFill>
                  <a:schemeClr val="tx1">
                    <a:lumMod val="95000"/>
                    <a:lumOff val="5000"/>
                  </a:schemeClr>
                </a:solidFill>
              </a:rPr>
              <a:t>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u="sng" dirty="0">
                <a:solidFill>
                  <a:srgbClr val="FF0000"/>
                </a:solidFill>
              </a:rPr>
              <a:t>PROBLEM  STATEMENT</a:t>
            </a:r>
            <a:endParaRPr lang="en-IN" u="sng" dirty="0">
              <a:solidFill>
                <a:srgbClr val="FF0000"/>
              </a:solidFill>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644881"/>
            <a:ext cx="6276109" cy="830997"/>
          </a:xfrm>
        </p:spPr>
        <p:txBody>
          <a:bodyPr>
            <a:normAutofit fontScale="90000"/>
          </a:bodyPr>
          <a:lstStyle/>
          <a:p>
            <a:r>
              <a:rPr lang="en-GB" u="sng" dirty="0">
                <a:solidFill>
                  <a:srgbClr val="FF0000"/>
                </a:solidFill>
              </a:rPr>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4BEE39D-1EFB-601F-0A98-DC9A1B4ADDB1}"/>
              </a:ext>
            </a:extLst>
          </p:cNvPr>
          <p:cNvSpPr txBox="1"/>
          <p:nvPr/>
        </p:nvSpPr>
        <p:spPr>
          <a:xfrm>
            <a:off x="467359" y="1922106"/>
            <a:ext cx="9609702" cy="4062651"/>
          </a:xfrm>
          <a:prstGeom prst="rect">
            <a:avLst/>
          </a:prstGeom>
          <a:noFill/>
        </p:spPr>
        <p:txBody>
          <a:bodyPr wrap="square" rtlCol="0">
            <a:spAutoFit/>
          </a:bodyPr>
          <a:lstStyle/>
          <a:p>
            <a:pPr marL="285750" lvl="0" indent="-285750">
              <a:buFont typeface="Wingdings" panose="05000000000000000000" pitchFamily="2" charset="2"/>
              <a:buChar char="Ø"/>
            </a:pPr>
            <a:r>
              <a:rPr lang="en-IN" sz="2000" b="1" dirty="0"/>
              <a:t>Data Preparation</a:t>
            </a:r>
            <a:r>
              <a:rPr lang="en-IN" sz="2000" dirty="0"/>
              <a:t>: Clean and prepare raw datasets by handling missing values (via group-wise median imputation) and verifying data integrity.</a:t>
            </a:r>
          </a:p>
          <a:p>
            <a:pPr lvl="0"/>
            <a:endParaRPr lang="en-IN" sz="2000" dirty="0"/>
          </a:p>
          <a:p>
            <a:pPr marL="285750" lvl="0" indent="-285750">
              <a:buFont typeface="Wingdings" panose="05000000000000000000" pitchFamily="2" charset="2"/>
              <a:buChar char="Ø"/>
            </a:pPr>
            <a:r>
              <a:rPr lang="en-IN" sz="2000" b="1" dirty="0"/>
              <a:t>Seasonal Comparison</a:t>
            </a:r>
            <a:r>
              <a:rPr lang="en-IN" sz="2000" dirty="0"/>
              <a:t>: Analyse how crop yields, operational costs, total revenues, and net profits vary across seasons such as Kharif, Rabi, and Zaid.</a:t>
            </a:r>
          </a:p>
          <a:p>
            <a:pPr lvl="0"/>
            <a:endParaRPr lang="en-IN" sz="2000" dirty="0"/>
          </a:p>
          <a:p>
            <a:pPr marL="285750" lvl="0" indent="-285750">
              <a:buFont typeface="Wingdings" panose="05000000000000000000" pitchFamily="2" charset="2"/>
              <a:buChar char="Ø"/>
            </a:pPr>
            <a:r>
              <a:rPr lang="en-IN" sz="2000" b="1" dirty="0"/>
              <a:t>Environmental Correlation</a:t>
            </a:r>
            <a:r>
              <a:rPr lang="en-IN" sz="2000" dirty="0"/>
              <a:t>: Investigate relationships between environmental inputs—including rainfall, temperature, soil moisture, and nutrient levels—and agricultural outcomes.</a:t>
            </a:r>
          </a:p>
          <a:p>
            <a:pPr lvl="0"/>
            <a:endParaRPr lang="en-IN" sz="2000" dirty="0"/>
          </a:p>
          <a:p>
            <a:pPr marL="285750" lvl="0" indent="-285750">
              <a:buFont typeface="Wingdings" panose="05000000000000000000" pitchFamily="2" charset="2"/>
              <a:buChar char="Ø"/>
            </a:pPr>
            <a:r>
              <a:rPr lang="en-IN" sz="2000" b="1" dirty="0"/>
              <a:t>Resource Efficiency Tracking</a:t>
            </a:r>
            <a:r>
              <a:rPr lang="en-IN" sz="2000" dirty="0"/>
              <a:t>: Evaluate resource utilization metrics, comparing water efficiency across various irrigation methods.</a:t>
            </a:r>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43422E9-F4C6-B703-2582-AD86236DC6CE}"/>
              </a:ext>
            </a:extLst>
          </p:cNvPr>
          <p:cNvSpPr txBox="1"/>
          <p:nvPr/>
        </p:nvSpPr>
        <p:spPr>
          <a:xfrm>
            <a:off x="653142" y="1705451"/>
            <a:ext cx="9097347" cy="3447098"/>
          </a:xfrm>
          <a:prstGeom prst="rect">
            <a:avLst/>
          </a:prstGeom>
          <a:noFill/>
        </p:spPr>
        <p:txBody>
          <a:bodyPr wrap="square" rtlCol="0">
            <a:spAutoFit/>
          </a:bodyPr>
          <a:lstStyle/>
          <a:p>
            <a:pPr marL="342900" lvl="0" indent="-342900">
              <a:buFont typeface="Wingdings" panose="05000000000000000000" pitchFamily="2" charset="2"/>
              <a:buChar char="Ø"/>
            </a:pPr>
            <a:r>
              <a:rPr lang="en-IN" sz="2000" b="1" dirty="0"/>
              <a:t>Yield &amp; Profitability Disparities</a:t>
            </a:r>
            <a:r>
              <a:rPr lang="en-IN" sz="2000" dirty="0"/>
              <a:t>: The Kharif season records the highest average crop yields and profitability driven by monsoon support, while Zaid cycles frequently face negative average profit margins due to elevated input costs and reduced output.</a:t>
            </a:r>
          </a:p>
          <a:p>
            <a:pPr marL="342900" lvl="0" indent="-342900">
              <a:buFont typeface="Wingdings" panose="05000000000000000000" pitchFamily="2" charset="2"/>
              <a:buChar char="Ø"/>
            </a:pPr>
            <a:endParaRPr lang="en-IN" sz="2000" dirty="0"/>
          </a:p>
          <a:p>
            <a:pPr marL="342900" lvl="0" indent="-342900">
              <a:buFont typeface="Wingdings" panose="05000000000000000000" pitchFamily="2" charset="2"/>
              <a:buChar char="Ø"/>
            </a:pPr>
            <a:r>
              <a:rPr lang="en-IN" sz="2000" b="1" dirty="0"/>
              <a:t>Risk Factors</a:t>
            </a:r>
            <a:r>
              <a:rPr lang="en-IN" sz="2000" dirty="0"/>
              <a:t>: Pest and disease risks peak sharply during the Kharif season due to high ambient humidity and heavy rainfall patterns.</a:t>
            </a:r>
          </a:p>
          <a:p>
            <a:pPr marL="342900" lvl="0" indent="-342900">
              <a:buFont typeface="Wingdings" panose="05000000000000000000" pitchFamily="2" charset="2"/>
              <a:buChar char="Ø"/>
            </a:pPr>
            <a:endParaRPr lang="en-IN" sz="2000" dirty="0"/>
          </a:p>
          <a:p>
            <a:pPr marL="342900" lvl="0" indent="-342900">
              <a:buFont typeface="Wingdings" panose="05000000000000000000" pitchFamily="2" charset="2"/>
              <a:buChar char="Ø"/>
            </a:pPr>
            <a:r>
              <a:rPr lang="en-IN" sz="2000" b="1" dirty="0"/>
              <a:t>Resource Optimization</a:t>
            </a:r>
            <a:r>
              <a:rPr lang="en-IN" sz="2000" dirty="0"/>
              <a:t>: Drip irrigation consistently delivers superior water efficiency metrics compared to traditional flood methods.</a:t>
            </a:r>
          </a:p>
          <a:p>
            <a:pPr marL="285750" indent="-285750">
              <a:buFont typeface="Wingdings" panose="05000000000000000000" pitchFamily="2" charset="2"/>
              <a:buChar char="Ø"/>
            </a:pPr>
            <a:endParaRPr lang="en-IN" dirty="0"/>
          </a:p>
        </p:txBody>
      </p:sp>
      <p:sp>
        <p:nvSpPr>
          <p:cNvPr id="7" name="TextBox 6">
            <a:extLst>
              <a:ext uri="{FF2B5EF4-FFF2-40B4-BE49-F238E27FC236}">
                <a16:creationId xmlns:a16="http://schemas.microsoft.com/office/drawing/2014/main" id="{CE2FB148-73E6-0C2D-043A-CC75CABBA7F7}"/>
              </a:ext>
            </a:extLst>
          </p:cNvPr>
          <p:cNvSpPr txBox="1"/>
          <p:nvPr/>
        </p:nvSpPr>
        <p:spPr>
          <a:xfrm>
            <a:off x="653142" y="587829"/>
            <a:ext cx="5682344" cy="584775"/>
          </a:xfrm>
          <a:prstGeom prst="rect">
            <a:avLst/>
          </a:prstGeom>
          <a:noFill/>
        </p:spPr>
        <p:txBody>
          <a:bodyPr wrap="square" rtlCol="0">
            <a:spAutoFit/>
          </a:bodyPr>
          <a:lstStyle/>
          <a:p>
            <a:r>
              <a:rPr lang="en-GB" sz="3200" u="sng" dirty="0">
                <a:solidFill>
                  <a:srgbClr val="FF0000"/>
                </a:solidFill>
              </a:rPr>
              <a:t>Key Insights and Outcomes</a:t>
            </a:r>
            <a:endParaRPr lang="en-IN" sz="3200" dirty="0"/>
          </a:p>
        </p:txBody>
      </p:sp>
    </p:spTree>
    <p:extLst>
      <p:ext uri="{BB962C8B-B14F-4D97-AF65-F5344CB8AC3E}">
        <p14:creationId xmlns:p14="http://schemas.microsoft.com/office/powerpoint/2010/main" val="2815271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32359"/>
            <a:ext cx="8833188" cy="3990023"/>
          </a:xfrm>
        </p:spPr>
        <p:txBody>
          <a:bodyPr>
            <a:normAutofit lnSpcReduction="10000"/>
          </a:bodyPr>
          <a:lstStyle/>
          <a:p>
            <a:pPr lvl="0"/>
            <a:r>
              <a:rPr lang="en-IN" b="1" dirty="0">
                <a:solidFill>
                  <a:schemeClr val="tx1">
                    <a:lumMod val="95000"/>
                    <a:lumOff val="5000"/>
                  </a:schemeClr>
                </a:solidFill>
              </a:rPr>
              <a:t>Agricultural Students and Researchers</a:t>
            </a:r>
            <a:r>
              <a:rPr lang="en-IN" dirty="0">
                <a:solidFill>
                  <a:schemeClr val="tx1">
                    <a:lumMod val="95000"/>
                    <a:lumOff val="5000"/>
                  </a:schemeClr>
                </a:solidFill>
              </a:rPr>
              <a:t>: Students and academic learners exploring real-world data analytics problems, seasonal performance trends, and agricultural data </a:t>
            </a:r>
            <a:r>
              <a:rPr lang="en-IN" dirty="0" err="1">
                <a:solidFill>
                  <a:schemeClr val="tx1">
                    <a:lumMod val="95000"/>
                    <a:lumOff val="5000"/>
                  </a:schemeClr>
                </a:solidFill>
              </a:rPr>
              <a:t>modeling</a:t>
            </a:r>
            <a:r>
              <a:rPr lang="en-IN" dirty="0">
                <a:solidFill>
                  <a:schemeClr val="tx1">
                    <a:lumMod val="95000"/>
                    <a:lumOff val="5000"/>
                  </a:schemeClr>
                </a:solidFill>
              </a:rPr>
              <a:t>. </a:t>
            </a:r>
          </a:p>
          <a:p>
            <a:pPr lvl="0"/>
            <a:r>
              <a:rPr lang="en-IN" b="1" dirty="0">
                <a:solidFill>
                  <a:schemeClr val="tx1">
                    <a:lumMod val="95000"/>
                    <a:lumOff val="5000"/>
                  </a:schemeClr>
                </a:solidFill>
              </a:rPr>
              <a:t>Farmers and Agricultural Practitioners</a:t>
            </a:r>
            <a:r>
              <a:rPr lang="en-IN" dirty="0">
                <a:solidFill>
                  <a:schemeClr val="tx1">
                    <a:lumMod val="95000"/>
                    <a:lumOff val="5000"/>
                  </a:schemeClr>
                </a:solidFill>
              </a:rPr>
              <a:t>: Growers who can utilize data-driven seasonal insights to optimize crop selection, manage input costs, and improve irrigation and pest management practices.</a:t>
            </a:r>
          </a:p>
          <a:p>
            <a:pPr lvl="0"/>
            <a:r>
              <a:rPr lang="en-IN" b="1" dirty="0">
                <a:solidFill>
                  <a:schemeClr val="tx1">
                    <a:lumMod val="95000"/>
                    <a:lumOff val="5000"/>
                  </a:schemeClr>
                </a:solidFill>
              </a:rPr>
              <a:t>Agricultural Planners and Policymakers</a:t>
            </a:r>
            <a:r>
              <a:rPr lang="en-IN" dirty="0">
                <a:solidFill>
                  <a:schemeClr val="tx1">
                    <a:lumMod val="95000"/>
                    <a:lumOff val="5000"/>
                  </a:schemeClr>
                </a:solidFill>
              </a:rPr>
              <a:t>: Stakeholders and agricultural authorities who rely on evidence-based insights to support regional planning, resource allocation, and risk mitigation strategies. </a:t>
            </a:r>
          </a:p>
          <a:p>
            <a:pPr lvl="0"/>
            <a:r>
              <a:rPr lang="en-IN" b="1" dirty="0">
                <a:solidFill>
                  <a:schemeClr val="tx1">
                    <a:lumMod val="95000"/>
                    <a:lumOff val="5000"/>
                  </a:schemeClr>
                </a:solidFill>
              </a:rPr>
              <a:t>Agribusiness and Farm Management Enterprises</a:t>
            </a:r>
            <a:r>
              <a:rPr lang="en-IN" dirty="0">
                <a:solidFill>
                  <a:schemeClr val="tx1">
                    <a:lumMod val="95000"/>
                    <a:lumOff val="5000"/>
                  </a:schemeClr>
                </a:solidFill>
              </a:rPr>
              <a:t>: Organizations that </a:t>
            </a:r>
            <a:r>
              <a:rPr lang="en-IN" dirty="0" err="1">
                <a:solidFill>
                  <a:schemeClr val="tx1">
                    <a:lumMod val="95000"/>
                    <a:lumOff val="5000"/>
                  </a:schemeClr>
                </a:solidFill>
              </a:rPr>
              <a:t>analyze</a:t>
            </a:r>
            <a:r>
              <a:rPr lang="en-IN" dirty="0">
                <a:solidFill>
                  <a:schemeClr val="tx1">
                    <a:lumMod val="95000"/>
                    <a:lumOff val="5000"/>
                  </a:schemeClr>
                </a:solidFill>
              </a:rPr>
              <a:t> seasonal performance, market pricing, and profitability metrics to guide commercial agricultural investments and operational decisions.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475296"/>
            <a:ext cx="10046070" cy="802641"/>
          </a:xfrm>
        </p:spPr>
        <p:txBody>
          <a:bodyPr>
            <a:normAutofit/>
          </a:bodyPr>
          <a:lstStyle/>
          <a:p>
            <a:r>
              <a:rPr lang="en-US" sz="3600" u="sng" dirty="0">
                <a:solidFill>
                  <a:srgbClr val="FF0000"/>
                </a:solidFill>
              </a:rPr>
              <a:t>WHO ARE THE END USERS?</a:t>
            </a:r>
            <a:endParaRPr lang="en-IN" sz="2400" u="sng" dirty="0">
              <a:solidFill>
                <a:srgbClr val="FF0000"/>
              </a:solidFill>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68759" y="1463105"/>
            <a:ext cx="8612155" cy="4676438"/>
          </a:xfrm>
        </p:spPr>
        <p:txBody>
          <a:bodyPr>
            <a:normAutofit/>
          </a:bodyPr>
          <a:lstStyle/>
          <a:p>
            <a:pPr lvl="0">
              <a:lnSpc>
                <a:spcPct val="100000"/>
              </a:lnSpc>
            </a:pPr>
            <a:r>
              <a:rPr lang="en-IN" sz="2200" b="1" dirty="0">
                <a:solidFill>
                  <a:schemeClr val="tx1">
                    <a:lumMod val="95000"/>
                    <a:lumOff val="5000"/>
                  </a:schemeClr>
                </a:solidFill>
              </a:rPr>
              <a:t>Python</a:t>
            </a:r>
            <a:r>
              <a:rPr lang="en-IN" sz="2200" dirty="0">
                <a:solidFill>
                  <a:schemeClr val="tx1">
                    <a:lumMod val="95000"/>
                    <a:lumOff val="5000"/>
                  </a:schemeClr>
                </a:solidFill>
              </a:rPr>
              <a:t>: The primary programming language utilized for data processing, statistical </a:t>
            </a:r>
            <a:r>
              <a:rPr lang="en-IN" sz="2200" dirty="0" err="1">
                <a:solidFill>
                  <a:schemeClr val="tx1">
                    <a:lumMod val="95000"/>
                    <a:lumOff val="5000"/>
                  </a:schemeClr>
                </a:solidFill>
              </a:rPr>
              <a:t>modeling</a:t>
            </a:r>
            <a:r>
              <a:rPr lang="en-IN" sz="2200" dirty="0">
                <a:solidFill>
                  <a:schemeClr val="tx1">
                    <a:lumMod val="95000"/>
                    <a:lumOff val="5000"/>
                  </a:schemeClr>
                </a:solidFill>
              </a:rPr>
              <a:t>, and analysis.</a:t>
            </a:r>
          </a:p>
          <a:p>
            <a:pPr lvl="0">
              <a:lnSpc>
                <a:spcPct val="100000"/>
              </a:lnSpc>
            </a:pPr>
            <a:r>
              <a:rPr lang="en-IN" sz="2200" b="1" dirty="0">
                <a:solidFill>
                  <a:schemeClr val="tx1">
                    <a:lumMod val="95000"/>
                    <a:lumOff val="5000"/>
                  </a:schemeClr>
                </a:solidFill>
              </a:rPr>
              <a:t>Google </a:t>
            </a:r>
            <a:r>
              <a:rPr lang="en-IN" sz="2200" b="1" dirty="0" err="1">
                <a:solidFill>
                  <a:schemeClr val="tx1">
                    <a:lumMod val="95000"/>
                    <a:lumOff val="5000"/>
                  </a:schemeClr>
                </a:solidFill>
              </a:rPr>
              <a:t>Colab</a:t>
            </a:r>
            <a:r>
              <a:rPr lang="en-IN" sz="2200" dirty="0">
                <a:solidFill>
                  <a:schemeClr val="tx1">
                    <a:lumMod val="95000"/>
                    <a:lumOff val="5000"/>
                  </a:schemeClr>
                </a:solidFill>
              </a:rPr>
              <a:t>: The cloud-based Jupyter notebook environment used to write, execute, and document the complete analytical workflow.</a:t>
            </a:r>
          </a:p>
          <a:p>
            <a:pPr lvl="0">
              <a:lnSpc>
                <a:spcPct val="100000"/>
              </a:lnSpc>
            </a:pPr>
            <a:r>
              <a:rPr lang="en-IN" sz="2200" b="1" dirty="0">
                <a:solidFill>
                  <a:schemeClr val="tx1">
                    <a:lumMod val="95000"/>
                    <a:lumOff val="5000"/>
                  </a:schemeClr>
                </a:solidFill>
              </a:rPr>
              <a:t>Pandas</a:t>
            </a:r>
            <a:r>
              <a:rPr lang="en-IN" sz="2200" dirty="0">
                <a:solidFill>
                  <a:schemeClr val="tx1">
                    <a:lumMod val="95000"/>
                    <a:lumOff val="5000"/>
                  </a:schemeClr>
                </a:solidFill>
              </a:rPr>
              <a:t>: Used for data manipulation, cleaning, missing value imputation, and structuring datasets.</a:t>
            </a:r>
          </a:p>
          <a:p>
            <a:pPr lvl="0">
              <a:lnSpc>
                <a:spcPct val="100000"/>
              </a:lnSpc>
            </a:pPr>
            <a:r>
              <a:rPr lang="en-IN" sz="2200" b="1" dirty="0">
                <a:solidFill>
                  <a:schemeClr val="tx1">
                    <a:lumMod val="95000"/>
                    <a:lumOff val="5000"/>
                  </a:schemeClr>
                </a:solidFill>
              </a:rPr>
              <a:t>NumPy</a:t>
            </a:r>
            <a:r>
              <a:rPr lang="en-IN" sz="2200" dirty="0">
                <a:solidFill>
                  <a:schemeClr val="tx1">
                    <a:lumMod val="95000"/>
                    <a:lumOff val="5000"/>
                  </a:schemeClr>
                </a:solidFill>
              </a:rPr>
              <a:t>: Employed for high-performance numerical computations and mathematical operations.</a:t>
            </a:r>
          </a:p>
          <a:p>
            <a:pPr lvl="0">
              <a:lnSpc>
                <a:spcPct val="100000"/>
              </a:lnSpc>
            </a:pPr>
            <a:r>
              <a:rPr lang="en-IN" sz="2200" b="1" dirty="0">
                <a:solidFill>
                  <a:schemeClr val="tx1">
                    <a:lumMod val="95000"/>
                    <a:lumOff val="5000"/>
                  </a:schemeClr>
                </a:solidFill>
              </a:rPr>
              <a:t>Matplotlib &amp; Seaborn</a:t>
            </a:r>
            <a:r>
              <a:rPr lang="en-IN" sz="2200" dirty="0">
                <a:solidFill>
                  <a:schemeClr val="tx1">
                    <a:lumMod val="95000"/>
                    <a:lumOff val="5000"/>
                  </a:schemeClr>
                </a:solidFill>
              </a:rPr>
              <a:t>: Data visualization libraries utilized to generate descriptive plots, distribution histograms, seasonal comparison bar charts, and correlation heatmaps.</a:t>
            </a:r>
          </a:p>
          <a:p>
            <a:pPr lvl="1"/>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467359" y="430567"/>
            <a:ext cx="5306291" cy="847817"/>
          </a:xfrm>
        </p:spPr>
        <p:txBody>
          <a:bodyPr>
            <a:normAutofit/>
          </a:bodyPr>
          <a:lstStyle/>
          <a:p>
            <a:r>
              <a:rPr lang="en-US" u="sng" dirty="0">
                <a:solidFill>
                  <a:srgbClr val="C00000"/>
                </a:solidFill>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060FD404-250F-9C2E-9A95-3A183DAC98AA}"/>
              </a:ext>
            </a:extLst>
          </p:cNvPr>
          <p:cNvPicPr>
            <a:picLocks noChangeAspect="1"/>
          </p:cNvPicPr>
          <p:nvPr/>
        </p:nvPicPr>
        <p:blipFill>
          <a:blip r:embed="rId3"/>
          <a:stretch>
            <a:fillRect/>
          </a:stretch>
        </p:blipFill>
        <p:spPr>
          <a:xfrm>
            <a:off x="320980" y="1608410"/>
            <a:ext cx="5674511" cy="4425705"/>
          </a:xfrm>
          <a:prstGeom prst="rect">
            <a:avLst/>
          </a:prstGeom>
        </p:spPr>
      </p:pic>
      <p:pic>
        <p:nvPicPr>
          <p:cNvPr id="13" name="Picture 12">
            <a:extLst>
              <a:ext uri="{FF2B5EF4-FFF2-40B4-BE49-F238E27FC236}">
                <a16:creationId xmlns:a16="http://schemas.microsoft.com/office/drawing/2014/main" id="{A69F0B02-80C4-5410-9F8B-6AEA7CE96E83}"/>
              </a:ext>
            </a:extLst>
          </p:cNvPr>
          <p:cNvPicPr>
            <a:picLocks noChangeAspect="1"/>
          </p:cNvPicPr>
          <p:nvPr/>
        </p:nvPicPr>
        <p:blipFill>
          <a:blip r:embed="rId4"/>
          <a:stretch>
            <a:fillRect/>
          </a:stretch>
        </p:blipFill>
        <p:spPr>
          <a:xfrm>
            <a:off x="6196509" y="1775983"/>
            <a:ext cx="5674511" cy="4425705"/>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ACD36-E1E9-9145-DA9B-3773FEB3D7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F8C8D1-22F1-95D1-E247-43F1C3F1813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005D879-3994-6A4E-C865-553E67F84FB9}"/>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5C96B887-6C39-4787-79A9-7FCCECB0857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D8D6E0B-780D-B276-B03F-8F078CECE3CA}"/>
              </a:ext>
            </a:extLst>
          </p:cNvPr>
          <p:cNvPicPr>
            <a:picLocks noChangeAspect="1"/>
          </p:cNvPicPr>
          <p:nvPr/>
        </p:nvPicPr>
        <p:blipFill>
          <a:blip r:embed="rId3"/>
          <a:stretch>
            <a:fillRect/>
          </a:stretch>
        </p:blipFill>
        <p:spPr>
          <a:xfrm>
            <a:off x="255668" y="1374767"/>
            <a:ext cx="5774039" cy="4425705"/>
          </a:xfrm>
          <a:prstGeom prst="rect">
            <a:avLst/>
          </a:prstGeom>
        </p:spPr>
      </p:pic>
      <p:pic>
        <p:nvPicPr>
          <p:cNvPr id="8" name="Picture 7">
            <a:extLst>
              <a:ext uri="{FF2B5EF4-FFF2-40B4-BE49-F238E27FC236}">
                <a16:creationId xmlns:a16="http://schemas.microsoft.com/office/drawing/2014/main" id="{5A834201-9749-25D1-83F0-C6D30F8C68E4}"/>
              </a:ext>
            </a:extLst>
          </p:cNvPr>
          <p:cNvPicPr>
            <a:picLocks noChangeAspect="1"/>
          </p:cNvPicPr>
          <p:nvPr/>
        </p:nvPicPr>
        <p:blipFill>
          <a:blip r:embed="rId4"/>
          <a:stretch>
            <a:fillRect/>
          </a:stretch>
        </p:blipFill>
        <p:spPr>
          <a:xfrm>
            <a:off x="6644633" y="1374766"/>
            <a:ext cx="5139930" cy="4425705"/>
          </a:xfrm>
          <a:prstGeom prst="rect">
            <a:avLst/>
          </a:prstGeom>
        </p:spPr>
      </p:pic>
    </p:spTree>
    <p:extLst>
      <p:ext uri="{BB962C8B-B14F-4D97-AF65-F5344CB8AC3E}">
        <p14:creationId xmlns:p14="http://schemas.microsoft.com/office/powerpoint/2010/main" val="291145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5C8C-250F-8890-66B0-D7EBC8CDE9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D4C86E-EA5B-5C35-7FBB-3895465967B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334037-EFA1-0746-0A2C-E6F7F087780C}"/>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7E63965D-CC29-5E98-256C-2F7EF057D36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29DC4E2-ED4F-4A87-987F-F0F23201E3C0}"/>
              </a:ext>
            </a:extLst>
          </p:cNvPr>
          <p:cNvPicPr>
            <a:picLocks noChangeAspect="1"/>
          </p:cNvPicPr>
          <p:nvPr/>
        </p:nvPicPr>
        <p:blipFill>
          <a:blip r:embed="rId3"/>
          <a:stretch>
            <a:fillRect/>
          </a:stretch>
        </p:blipFill>
        <p:spPr>
          <a:xfrm>
            <a:off x="192833" y="1813307"/>
            <a:ext cx="5482659" cy="4425705"/>
          </a:xfrm>
          <a:prstGeom prst="rect">
            <a:avLst/>
          </a:prstGeom>
        </p:spPr>
      </p:pic>
      <p:pic>
        <p:nvPicPr>
          <p:cNvPr id="8" name="Picture 7">
            <a:extLst>
              <a:ext uri="{FF2B5EF4-FFF2-40B4-BE49-F238E27FC236}">
                <a16:creationId xmlns:a16="http://schemas.microsoft.com/office/drawing/2014/main" id="{9BF0C430-E472-46F6-D8C1-323D4031385F}"/>
              </a:ext>
            </a:extLst>
          </p:cNvPr>
          <p:cNvPicPr>
            <a:picLocks noChangeAspect="1"/>
          </p:cNvPicPr>
          <p:nvPr/>
        </p:nvPicPr>
        <p:blipFill>
          <a:blip r:embed="rId4"/>
          <a:stretch>
            <a:fillRect/>
          </a:stretch>
        </p:blipFill>
        <p:spPr>
          <a:xfrm>
            <a:off x="5803641" y="1548523"/>
            <a:ext cx="6067377" cy="4690489"/>
          </a:xfrm>
          <a:prstGeom prst="rect">
            <a:avLst/>
          </a:prstGeom>
        </p:spPr>
      </p:pic>
    </p:spTree>
    <p:extLst>
      <p:ext uri="{BB962C8B-B14F-4D97-AF65-F5344CB8AC3E}">
        <p14:creationId xmlns:p14="http://schemas.microsoft.com/office/powerpoint/2010/main" val="211763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62679-18FC-20C5-80E0-17077840F9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8C4F0E-2D98-146B-70F0-2C5BEF41BE8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D9814D9-E5DB-3BFF-9995-F1D80361E450}"/>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5059E675-4F00-ED54-CF61-0C514FF97E4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2D0C6AA-6032-4CB8-4DEC-698E9C7F7798}"/>
              </a:ext>
            </a:extLst>
          </p:cNvPr>
          <p:cNvPicPr>
            <a:picLocks noChangeAspect="1"/>
          </p:cNvPicPr>
          <p:nvPr/>
        </p:nvPicPr>
        <p:blipFill>
          <a:blip r:embed="rId3"/>
          <a:stretch>
            <a:fillRect/>
          </a:stretch>
        </p:blipFill>
        <p:spPr>
          <a:xfrm>
            <a:off x="2464975" y="1275371"/>
            <a:ext cx="6062484" cy="5321372"/>
          </a:xfrm>
          <a:prstGeom prst="rect">
            <a:avLst/>
          </a:prstGeom>
        </p:spPr>
      </p:pic>
    </p:spTree>
    <p:extLst>
      <p:ext uri="{BB962C8B-B14F-4D97-AF65-F5344CB8AC3E}">
        <p14:creationId xmlns:p14="http://schemas.microsoft.com/office/powerpoint/2010/main" val="255012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61289-4D1D-6428-0687-EF24640A00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08C46CF-683D-7CE0-D12F-4A29AC043A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F6635E0-CF76-E2FB-8452-C4ADBDE1FF52}"/>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a:t>
            </a:r>
            <a:r>
              <a:rPr lang="en-GB" dirty="0"/>
              <a:t> </a:t>
            </a:r>
            <a:endParaRPr lang="en-IN" dirty="0"/>
          </a:p>
        </p:txBody>
      </p:sp>
      <p:sp>
        <p:nvSpPr>
          <p:cNvPr id="7" name="Text Placeholder 30">
            <a:extLst>
              <a:ext uri="{FF2B5EF4-FFF2-40B4-BE49-F238E27FC236}">
                <a16:creationId xmlns:a16="http://schemas.microsoft.com/office/drawing/2014/main" id="{36139DD8-53DA-2857-AB8F-309164D3F8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4D65E11-0CA8-70DF-C15B-E2469A6C6F72}"/>
              </a:ext>
            </a:extLst>
          </p:cNvPr>
          <p:cNvPicPr>
            <a:picLocks noChangeAspect="1"/>
          </p:cNvPicPr>
          <p:nvPr/>
        </p:nvPicPr>
        <p:blipFill>
          <a:blip r:embed="rId3"/>
          <a:stretch>
            <a:fillRect/>
          </a:stretch>
        </p:blipFill>
        <p:spPr>
          <a:xfrm>
            <a:off x="981321" y="1275371"/>
            <a:ext cx="8050712" cy="5340107"/>
          </a:xfrm>
          <a:prstGeom prst="rect">
            <a:avLst/>
          </a:prstGeom>
        </p:spPr>
      </p:pic>
    </p:spTree>
    <p:extLst>
      <p:ext uri="{BB962C8B-B14F-4D97-AF65-F5344CB8AC3E}">
        <p14:creationId xmlns:p14="http://schemas.microsoft.com/office/powerpoint/2010/main" val="181896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29F4-8075-52E9-D0D3-BD5D80C5F60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5BEA3C-3306-A079-D416-67BE499E2A7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0E6C1A0-4628-5E45-72BF-31D0B22A6F25}"/>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26BAD0CA-9D0D-0BE2-9EBB-491E97F2518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B08FE72-8710-1890-CC96-4A684FD64095}"/>
              </a:ext>
            </a:extLst>
          </p:cNvPr>
          <p:cNvPicPr>
            <a:picLocks noChangeAspect="1"/>
          </p:cNvPicPr>
          <p:nvPr/>
        </p:nvPicPr>
        <p:blipFill>
          <a:blip r:embed="rId3"/>
          <a:stretch>
            <a:fillRect/>
          </a:stretch>
        </p:blipFill>
        <p:spPr>
          <a:xfrm>
            <a:off x="981321" y="1275371"/>
            <a:ext cx="8050712" cy="5340107"/>
          </a:xfrm>
          <a:prstGeom prst="rect">
            <a:avLst/>
          </a:prstGeom>
        </p:spPr>
      </p:pic>
    </p:spTree>
    <p:extLst>
      <p:ext uri="{BB962C8B-B14F-4D97-AF65-F5344CB8AC3E}">
        <p14:creationId xmlns:p14="http://schemas.microsoft.com/office/powerpoint/2010/main" val="3554464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82900" y="193040"/>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D021B3E-632C-09E4-78F7-F5E8E32179C5}"/>
              </a:ext>
            </a:extLst>
          </p:cNvPr>
          <p:cNvPicPr>
            <a:picLocks noChangeAspect="1"/>
          </p:cNvPicPr>
          <p:nvPr/>
        </p:nvPicPr>
        <p:blipFill>
          <a:blip r:embed="rId3"/>
          <a:stretch>
            <a:fillRect/>
          </a:stretch>
        </p:blipFill>
        <p:spPr>
          <a:xfrm>
            <a:off x="1343923" y="1050567"/>
            <a:ext cx="9504153" cy="5614393"/>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29C68C95-9F1D-C488-7AEB-EC86D170425A}"/>
              </a:ext>
            </a:extLst>
          </p:cNvPr>
          <p:cNvPicPr>
            <a:picLocks noChangeAspect="1"/>
          </p:cNvPicPr>
          <p:nvPr/>
        </p:nvPicPr>
        <p:blipFill>
          <a:blip r:embed="rId3"/>
          <a:stretch>
            <a:fillRect/>
          </a:stretch>
        </p:blipFill>
        <p:spPr>
          <a:xfrm>
            <a:off x="2413936" y="1201586"/>
            <a:ext cx="7364128" cy="49417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2C38E59-74AF-58BD-5209-031B2A82E83A}"/>
              </a:ext>
            </a:extLst>
          </p:cNvPr>
          <p:cNvPicPr>
            <a:picLocks noChangeAspect="1"/>
          </p:cNvPicPr>
          <p:nvPr/>
        </p:nvPicPr>
        <p:blipFill>
          <a:blip r:embed="rId3"/>
          <a:stretch>
            <a:fillRect/>
          </a:stretch>
        </p:blipFill>
        <p:spPr>
          <a:xfrm>
            <a:off x="2640181" y="1275371"/>
            <a:ext cx="6754586" cy="463090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u="sng" dirty="0">
                <a:solidFill>
                  <a:srgbClr val="FF0000"/>
                </a:solidFill>
              </a:rPr>
              <a:t>RESULTS </a:t>
            </a:r>
            <a:endParaRPr lang="en-IN" u="sng" dirty="0">
              <a:solidFill>
                <a:srgbClr val="FF0000"/>
              </a:solidFill>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5E8D555-F337-E0C5-F9B1-BF8287ED106D}"/>
              </a:ext>
            </a:extLst>
          </p:cNvPr>
          <p:cNvPicPr>
            <a:picLocks noChangeAspect="1"/>
          </p:cNvPicPr>
          <p:nvPr/>
        </p:nvPicPr>
        <p:blipFill>
          <a:blip r:embed="rId3"/>
          <a:stretch>
            <a:fillRect/>
          </a:stretch>
        </p:blipFill>
        <p:spPr>
          <a:xfrm>
            <a:off x="320981" y="1324853"/>
            <a:ext cx="7526063" cy="5340107"/>
          </a:xfrm>
          <a:prstGeom prst="rect">
            <a:avLst/>
          </a:prstGeom>
        </p:spPr>
      </p:pic>
      <p:sp>
        <p:nvSpPr>
          <p:cNvPr id="11" name="TextBox 10">
            <a:extLst>
              <a:ext uri="{FF2B5EF4-FFF2-40B4-BE49-F238E27FC236}">
                <a16:creationId xmlns:a16="http://schemas.microsoft.com/office/drawing/2014/main" id="{C4975469-95EC-9D2B-3BCC-F0197686FCA3}"/>
              </a:ext>
            </a:extLst>
          </p:cNvPr>
          <p:cNvSpPr txBox="1"/>
          <p:nvPr/>
        </p:nvSpPr>
        <p:spPr>
          <a:xfrm>
            <a:off x="7940350" y="1651518"/>
            <a:ext cx="3582955" cy="3170099"/>
          </a:xfrm>
          <a:prstGeom prst="rect">
            <a:avLst/>
          </a:prstGeom>
          <a:noFill/>
        </p:spPr>
        <p:txBody>
          <a:bodyPr wrap="square" rtlCol="0">
            <a:spAutoFit/>
          </a:bodyPr>
          <a:lstStyle/>
          <a:p>
            <a:pPr algn="ctr"/>
            <a:r>
              <a:rPr lang="en-IN" sz="2000" dirty="0"/>
              <a:t>The scatter plot, titled "Yield, Profit and Seasonal Differences," visually depicts the relationships between agricultural yield (on the x-axis), farm profit (on the y-axis), and also incorporates season (through colour) and farm area (through the size of the points).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u="sng" dirty="0">
                <a:solidFill>
                  <a:srgbClr val="FF0000"/>
                </a:solidFill>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C170B398-0E06-3BDD-DF64-ED2B9BBD0E64}"/>
              </a:ext>
            </a:extLst>
          </p:cNvPr>
          <p:cNvSpPr txBox="1"/>
          <p:nvPr/>
        </p:nvSpPr>
        <p:spPr>
          <a:xfrm>
            <a:off x="320982" y="1132099"/>
            <a:ext cx="10875753" cy="5632311"/>
          </a:xfrm>
          <a:prstGeom prst="rect">
            <a:avLst/>
          </a:prstGeom>
          <a:noFill/>
        </p:spPr>
        <p:txBody>
          <a:bodyPr wrap="square" rtlCol="0">
            <a:spAutoFit/>
          </a:bodyPr>
          <a:lstStyle/>
          <a:p>
            <a:r>
              <a:rPr lang="en-IN" dirty="0"/>
              <a:t>The capabilities of the Seasonal Agriculture Performance Analysis project can be expanded from static analytics into a dynamic, production-ready decision-support system through several technical additions:</a:t>
            </a:r>
          </a:p>
          <a:p>
            <a:endParaRPr lang="en-IN" dirty="0"/>
          </a:p>
          <a:p>
            <a:pPr marL="285750" lvl="0" indent="-285750">
              <a:buFont typeface="Wingdings" panose="05000000000000000000" pitchFamily="2" charset="2"/>
              <a:buChar char="Ø"/>
            </a:pPr>
            <a:r>
              <a:rPr lang="en-IN" b="1" dirty="0"/>
              <a:t>Predictive Machine Learning Modelling</a:t>
            </a:r>
            <a:r>
              <a:rPr lang="en-IN" dirty="0"/>
              <a:t>: Implement regression and ensemble algorithms (such as Random Forest, Boost, or Neural Networks) to accurately forecast future crop yields, market prices, and net profitability before planting begins.</a:t>
            </a:r>
          </a:p>
          <a:p>
            <a:pPr marL="285750" lvl="0" indent="-285750">
              <a:buFont typeface="Wingdings" panose="05000000000000000000" pitchFamily="2" charset="2"/>
              <a:buChar char="Ø"/>
            </a:pPr>
            <a:r>
              <a:rPr lang="en-IN" b="1" dirty="0"/>
              <a:t>Interactive Web Dashboard Deployment</a:t>
            </a:r>
            <a:r>
              <a:rPr lang="en-IN" dirty="0"/>
              <a:t>: Build an interactive user interface using frameworks like Streamlet, Dash, or Flask to allow farmers and stakeholders to input custom parameters and simulate seasonal outcomes dynamically.</a:t>
            </a:r>
          </a:p>
          <a:p>
            <a:pPr marL="285750" lvl="0" indent="-285750">
              <a:buFont typeface="Wingdings" panose="05000000000000000000" pitchFamily="2" charset="2"/>
              <a:buChar char="Ø"/>
            </a:pPr>
            <a:r>
              <a:rPr lang="en-IN" b="1" dirty="0"/>
              <a:t>IoT and Real-Time Weather Integration</a:t>
            </a:r>
            <a:r>
              <a:rPr lang="en-IN" dirty="0"/>
              <a:t>: Integrate live feeds from IoT soil sensors and real-time meteorological APIs to replace historical averages with live environmental data for instantaneous operational adjustments.</a:t>
            </a:r>
          </a:p>
          <a:p>
            <a:pPr marL="285750" lvl="0" indent="-285750">
              <a:buFont typeface="Wingdings" panose="05000000000000000000" pitchFamily="2" charset="2"/>
              <a:buChar char="Ø"/>
            </a:pPr>
            <a:r>
              <a:rPr lang="en-IN" b="1" dirty="0"/>
              <a:t>Geospatial &amp; Satellite Imagery Mapping</a:t>
            </a:r>
            <a:r>
              <a:rPr lang="en-IN" dirty="0"/>
              <a:t>: Incorporate Geographic Information Systems (GIS) and remote sensing data (such as NDVI vegetation indices via Google Earth Engine) to track regional crop health at a micro-level.</a:t>
            </a:r>
          </a:p>
          <a:p>
            <a:pPr marL="285750" lvl="0" indent="-285750">
              <a:buFont typeface="Wingdings" panose="05000000000000000000" pitchFamily="2" charset="2"/>
              <a:buChar char="Ø"/>
            </a:pPr>
            <a:r>
              <a:rPr lang="en-IN" b="1" dirty="0"/>
              <a:t>Advanced Disease and Pest Risk Forecasting</a:t>
            </a:r>
            <a:r>
              <a:rPr lang="en-IN" dirty="0"/>
              <a:t>: Develop specialized classification models to predict precise pest outbreaks days in advance based on localized micro-climatic thresholds like humidity spikes and continuous rainfall patterns.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51183" y="1608410"/>
            <a:ext cx="4735798" cy="830997"/>
          </a:xfrm>
        </p:spPr>
        <p:txBody>
          <a:bodyPr>
            <a:normAutofit/>
          </a:bodyPr>
          <a:lstStyle/>
          <a:p>
            <a:r>
              <a:rPr lang="en-IN" sz="4000" u="sng" dirty="0">
                <a:solidFill>
                  <a:srgbClr val="FF0000"/>
                </a:solidFill>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236484BB-0B84-86C4-3C06-7021B8B7F0D4}"/>
              </a:ext>
            </a:extLst>
          </p:cNvPr>
          <p:cNvSpPr txBox="1"/>
          <p:nvPr/>
        </p:nvSpPr>
        <p:spPr>
          <a:xfrm>
            <a:off x="596646" y="2782669"/>
            <a:ext cx="4894419" cy="646331"/>
          </a:xfrm>
          <a:prstGeom prst="rect">
            <a:avLst/>
          </a:prstGeom>
          <a:noFill/>
        </p:spPr>
        <p:txBody>
          <a:bodyPr wrap="square" rtlCol="0">
            <a:spAutoFit/>
          </a:bodyPr>
          <a:lstStyle/>
          <a:p>
            <a:r>
              <a:rPr lang="en-IN" dirty="0"/>
              <a:t>https://github.com/gopalkrishna245/Seasonal_Agricultural_Perfomance_Analysis.git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545329" y="193040"/>
            <a:ext cx="8351388" cy="884658"/>
          </a:xfrm>
        </p:spPr>
        <p:txBody>
          <a:bodyPr>
            <a:normAutofit fontScale="90000"/>
          </a:bodyPr>
          <a:lstStyle/>
          <a:p>
            <a:r>
              <a:rPr lang="en-IN" sz="3200" u="sng" dirty="0">
                <a:solidFill>
                  <a:srgbClr val="FF0000"/>
                </a:solidFill>
              </a:rPr>
              <a:t>VOIS Course completion certificate - </a:t>
            </a:r>
            <a:br>
              <a:rPr lang="en-IN" sz="3200" u="sng" dirty="0">
                <a:solidFill>
                  <a:srgbClr val="FF0000"/>
                </a:solidFill>
              </a:rPr>
            </a:br>
            <a:r>
              <a:rPr lang="en-IN" sz="3200" u="sng" dirty="0">
                <a:solidFill>
                  <a:srgbClr val="FF0000"/>
                </a:solidFill>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F7336D6-2406-CB3E-4834-E78F00FE6F1C}"/>
              </a:ext>
            </a:extLst>
          </p:cNvPr>
          <p:cNvPicPr>
            <a:picLocks noChangeAspect="1"/>
          </p:cNvPicPr>
          <p:nvPr/>
        </p:nvPicPr>
        <p:blipFill>
          <a:blip r:embed="rId3"/>
          <a:stretch>
            <a:fillRect/>
          </a:stretch>
        </p:blipFill>
        <p:spPr>
          <a:xfrm>
            <a:off x="1486912" y="1156997"/>
            <a:ext cx="9252623" cy="550796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320848"/>
            <a:ext cx="11340000" cy="700114"/>
          </a:xfrm>
          <a:prstGeom prst="rect">
            <a:avLst/>
          </a:prstGeom>
        </p:spPr>
        <p:txBody>
          <a:bodyPr anchor="ctr">
            <a:noAutofit/>
          </a:bodyPr>
          <a:lstStyle/>
          <a:p>
            <a:pPr algn="ctr"/>
            <a:r>
              <a:rPr lang="en-US" sz="13800" b="1" dirty="0">
                <a:solidFill>
                  <a:srgbClr val="FF0000"/>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107501" y="4189583"/>
            <a:ext cx="3361861" cy="714600"/>
          </a:xfrm>
        </p:spPr>
        <p:txBody>
          <a:bodyPr>
            <a:normAutofit/>
          </a:bodyPr>
          <a:lstStyle/>
          <a:p>
            <a:r>
              <a:rPr lang="en-US" dirty="0">
                <a:hlinkClick r:id="rId3"/>
              </a:rPr>
              <a:t>Email-gopal1892003@gmail.com</a:t>
            </a:r>
            <a:endParaRPr lang="en-US" dirty="0"/>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1544</TotalTime>
  <Words>810</Words>
  <Application>Microsoft Office PowerPoint</Application>
  <PresentationFormat>Widescreen</PresentationFormat>
  <Paragraphs>58</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PowerPoint Presentation</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Gopal Krishna</cp:lastModifiedBy>
  <cp:revision>99</cp:revision>
  <dcterms:created xsi:type="dcterms:W3CDTF">2021-07-11T13:13:15Z</dcterms:created>
  <dcterms:modified xsi:type="dcterms:W3CDTF">2026-09-06T14:06:53Z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